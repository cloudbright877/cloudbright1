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312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83759" y="0"/>
            <a:ext cx="8777361" cy="2743200"/>
          </a:xfrm>
          <a:custGeom>
            <a:avLst/>
            <a:gdLst/>
            <a:ahLst/>
            <a:cxnLst/>
            <a:rect l="l" t="t" r="r" b="b"/>
            <a:pathLst>
              <a:path w="8777361" h="2743200">
                <a:moveTo>
                  <a:pt x="8777361" y="457200"/>
                </a:moveTo>
                <a:moveTo>
                  <a:pt x="2375681" y="685800"/>
                </a:moveTo>
                <a:lnTo>
                  <a:pt x="2375681" y="2057400"/>
                </a:lnTo>
                <a:lnTo>
                  <a:pt x="1187841" y="2743200"/>
                </a:lnTo>
                <a:lnTo>
                  <a:pt x="0" y="2057400"/>
                </a:lnTo>
                <a:lnTo>
                  <a:pt x="0" y="685799"/>
                </a:lnTo>
                <a:lnTo>
                  <a:pt x="1187840" y="0"/>
                </a:lnTo>
                <a:lnTo>
                  <a:pt x="2375681" y="685800"/>
                </a:lnTo>
                <a:close/>
              </a:path>
            </a:pathLst>
          </a:cu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122506" y="0"/>
            <a:ext cx="9478694" cy="2926080"/>
          </a:xfrm>
          <a:custGeom>
            <a:avLst/>
            <a:gdLst/>
            <a:ahLst/>
            <a:cxnLst/>
            <a:rect l="l" t="t" r="r" b="b"/>
            <a:pathLst>
              <a:path w="9478694" h="2926080">
                <a:moveTo>
                  <a:pt x="9478694" y="2926080"/>
                </a:moveTo>
                <a:moveTo>
                  <a:pt x="1583787" y="457200"/>
                </a:moveTo>
                <a:lnTo>
                  <a:pt x="1583787" y="1371600"/>
                </a:lnTo>
                <a:lnTo>
                  <a:pt x="791894" y="1828800"/>
                </a:lnTo>
                <a:lnTo>
                  <a:pt x="0" y="1371600"/>
                </a:lnTo>
                <a:lnTo>
                  <a:pt x="0" y="457199"/>
                </a:lnTo>
                <a:lnTo>
                  <a:pt x="791893" y="0"/>
                </a:lnTo>
                <a:lnTo>
                  <a:pt x="1583787" y="457200"/>
                </a:lnTo>
                <a:close/>
              </a:path>
            </a:pathLst>
          </a:cu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879" y="0"/>
            <a:ext cx="10423721" cy="4572000"/>
          </a:xfrm>
          <a:custGeom>
            <a:avLst/>
            <a:gdLst/>
            <a:ahLst/>
            <a:cxnLst/>
            <a:rect l="l" t="t" r="r" b="b"/>
            <a:pathLst>
              <a:path w="10423721" h="4572000">
                <a:moveTo>
                  <a:pt x="10423721" y="4572000"/>
                </a:moveTo>
                <a:moveTo>
                  <a:pt x="1187841" y="342900"/>
                </a:moveTo>
                <a:lnTo>
                  <a:pt x="1187841" y="1028700"/>
                </a:lnTo>
                <a:lnTo>
                  <a:pt x="593921" y="1371600"/>
                </a:lnTo>
                <a:lnTo>
                  <a:pt x="0" y="1028700"/>
                </a:lnTo>
                <a:lnTo>
                  <a:pt x="0" y="342899"/>
                </a:lnTo>
                <a:lnTo>
                  <a:pt x="593920" y="0"/>
                </a:lnTo>
                <a:lnTo>
                  <a:pt x="1187841" y="342900"/>
                </a:lnTo>
                <a:close/>
              </a:path>
            </a:pathLst>
          </a:cu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-457200" y="0"/>
            <a:ext cx="2163493" cy="5029200"/>
          </a:xfrm>
          <a:custGeom>
            <a:avLst/>
            <a:gdLst/>
            <a:ahLst/>
            <a:cxnLst/>
            <a:rect l="l" t="t" r="r" b="b"/>
            <a:pathLst>
              <a:path w="2163493" h="5029200">
                <a:moveTo>
                  <a:pt x="0" y="5029200"/>
                </a:moveTo>
                <a:moveTo>
                  <a:pt x="2163493" y="457200"/>
                </a:moveTo>
                <a:lnTo>
                  <a:pt x="2163493" y="1371600"/>
                </a:lnTo>
                <a:lnTo>
                  <a:pt x="1371600" y="1828800"/>
                </a:lnTo>
                <a:lnTo>
                  <a:pt x="579706" y="1371600"/>
                </a:lnTo>
                <a:lnTo>
                  <a:pt x="579706" y="457199"/>
                </a:lnTo>
                <a:lnTo>
                  <a:pt x="1371599" y="0"/>
                </a:lnTo>
                <a:lnTo>
                  <a:pt x="2163493" y="45720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371600" cy="137160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CLOUDBRIGHT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2743200" cy="5486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6B6D4"/>
                </a:solidFill>
                <a:latin typeface="Calibri"/>
              </a:defRPr>
            </a:pPr>
            <a:r>
              <a:t>Copy the Best Bots. Collect the Profits.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Investor Presentation  |  February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Hong Kong Cloud Bright Software Limited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3503" y="-274320"/>
            <a:ext cx="10442097" cy="1371600"/>
          </a:xfrm>
          <a:custGeom>
            <a:avLst/>
            <a:gdLst/>
            <a:ahLst/>
            <a:cxnLst/>
            <a:rect l="l" t="t" r="r" b="b"/>
            <a:pathLst>
              <a:path w="10442097" h="1371600">
                <a:moveTo>
                  <a:pt x="10442097" y="0"/>
                </a:moveTo>
                <a:moveTo>
                  <a:pt x="950273" y="548640"/>
                </a:moveTo>
                <a:lnTo>
                  <a:pt x="950273" y="1097280"/>
                </a:lnTo>
                <a:lnTo>
                  <a:pt x="475137" y="1371600"/>
                </a:lnTo>
                <a:lnTo>
                  <a:pt x="0" y="1097280"/>
                </a:lnTo>
                <a:lnTo>
                  <a:pt x="0" y="548639"/>
                </a:lnTo>
                <a:lnTo>
                  <a:pt x="475136" y="274320"/>
                </a:lnTo>
                <a:lnTo>
                  <a:pt x="950273" y="54864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9002" y="0"/>
            <a:ext cx="10923798" cy="731520"/>
          </a:xfrm>
          <a:custGeom>
            <a:avLst/>
            <a:gdLst/>
            <a:ahLst/>
            <a:cxnLst/>
            <a:rect l="l" t="t" r="r" b="b"/>
            <a:pathLst>
              <a:path w="10923798" h="731520">
                <a:moveTo>
                  <a:pt x="10923798" y="45720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noFill/>
          <a:ln w="9525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182880" y="0"/>
            <a:ext cx="1036026" cy="5669280"/>
          </a:xfrm>
          <a:custGeom>
            <a:avLst/>
            <a:gdLst/>
            <a:ahLst/>
            <a:cxnLst/>
            <a:rect l="l" t="t" r="r" b="b"/>
            <a:pathLst>
              <a:path w="1036026" h="5669280">
                <a:moveTo>
                  <a:pt x="0" y="5669280"/>
                </a:moveTo>
                <a:moveTo>
                  <a:pt x="1036026" y="228600"/>
                </a:moveTo>
                <a:lnTo>
                  <a:pt x="1036026" y="685800"/>
                </a:lnTo>
                <a:lnTo>
                  <a:pt x="640080" y="914400"/>
                </a:lnTo>
                <a:lnTo>
                  <a:pt x="244133" y="685800"/>
                </a:lnTo>
                <a:lnTo>
                  <a:pt x="244133" y="228599"/>
                </a:lnTo>
                <a:lnTo>
                  <a:pt x="640079" y="0"/>
                </a:lnTo>
                <a:lnTo>
                  <a:pt x="1036026" y="228600"/>
                </a:lnTo>
                <a:close/>
              </a:path>
            </a:pathLst>
          </a:custGeom>
          <a:noFill/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6751" y="0"/>
            <a:ext cx="475137" cy="6217920"/>
          </a:xfrm>
          <a:custGeom>
            <a:avLst/>
            <a:gdLst/>
            <a:ahLst/>
            <a:cxnLst/>
            <a:rect l="l" t="t" r="r" b="b"/>
            <a:pathLst>
              <a:path w="475137" h="6217920">
                <a:moveTo>
                  <a:pt x="420449" y="6217920"/>
                </a:moveTo>
                <a:moveTo>
                  <a:pt x="475137" y="137160"/>
                </a:moveTo>
                <a:lnTo>
                  <a:pt x="475137" y="411480"/>
                </a:lnTo>
                <a:lnTo>
                  <a:pt x="237569" y="548640"/>
                </a:lnTo>
                <a:lnTo>
                  <a:pt x="0" y="411480"/>
                </a:lnTo>
                <a:lnTo>
                  <a:pt x="0" y="137159"/>
                </a:lnTo>
                <a:lnTo>
                  <a:pt x="237568" y="0"/>
                </a:lnTo>
                <a:lnTo>
                  <a:pt x="475137" y="137160"/>
                </a:lnTo>
                <a:close/>
              </a:path>
            </a:pathLst>
          </a:custGeom>
          <a:noFill/>
          <a:ln w="635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Retail investors are locked out of</a:t>
            </a:r>
            <a:br/>
            <a:r>
              <a:t>professional trading strategies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$500K+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Minimum investment</a:t>
            </a:r>
            <a:br/>
            <a:r>
              <a:t>for algo strategies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108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7490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Transparency into</a:t>
            </a:r>
            <a:br/>
            <a:r>
              <a:t>actual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108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7490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Markets never sleep,</a:t>
            </a:r>
            <a:br/>
            <a:r>
              <a:t>but humans 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188720"/>
            <a:ext cx="3840480" cy="475488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Image: Frustrated investor</a:t>
            </a:r>
            <a:br/>
            <a:r>
              <a:t>or locked vault visual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3503" y="-274320"/>
            <a:ext cx="10442097" cy="1371600"/>
          </a:xfrm>
          <a:custGeom>
            <a:avLst/>
            <a:gdLst/>
            <a:ahLst/>
            <a:cxnLst/>
            <a:rect l="l" t="t" r="r" b="b"/>
            <a:pathLst>
              <a:path w="10442097" h="1371600">
                <a:moveTo>
                  <a:pt x="10442097" y="0"/>
                </a:moveTo>
                <a:moveTo>
                  <a:pt x="950273" y="548640"/>
                </a:moveTo>
                <a:lnTo>
                  <a:pt x="950273" y="1097280"/>
                </a:lnTo>
                <a:lnTo>
                  <a:pt x="475137" y="1371600"/>
                </a:lnTo>
                <a:lnTo>
                  <a:pt x="0" y="1097280"/>
                </a:lnTo>
                <a:lnTo>
                  <a:pt x="0" y="548639"/>
                </a:lnTo>
                <a:lnTo>
                  <a:pt x="475136" y="274320"/>
                </a:lnTo>
                <a:lnTo>
                  <a:pt x="950273" y="54864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9002" y="0"/>
            <a:ext cx="10923798" cy="731520"/>
          </a:xfrm>
          <a:custGeom>
            <a:avLst/>
            <a:gdLst/>
            <a:ahLst/>
            <a:cxnLst/>
            <a:rect l="l" t="t" r="r" b="b"/>
            <a:pathLst>
              <a:path w="10923798" h="731520">
                <a:moveTo>
                  <a:pt x="10923798" y="45720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noFill/>
          <a:ln w="9525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182880" y="0"/>
            <a:ext cx="1036026" cy="5669280"/>
          </a:xfrm>
          <a:custGeom>
            <a:avLst/>
            <a:gdLst/>
            <a:ahLst/>
            <a:cxnLst/>
            <a:rect l="l" t="t" r="r" b="b"/>
            <a:pathLst>
              <a:path w="1036026" h="5669280">
                <a:moveTo>
                  <a:pt x="0" y="5669280"/>
                </a:moveTo>
                <a:moveTo>
                  <a:pt x="1036026" y="228600"/>
                </a:moveTo>
                <a:lnTo>
                  <a:pt x="1036026" y="685800"/>
                </a:lnTo>
                <a:lnTo>
                  <a:pt x="640080" y="914400"/>
                </a:lnTo>
                <a:lnTo>
                  <a:pt x="244133" y="685800"/>
                </a:lnTo>
                <a:lnTo>
                  <a:pt x="244133" y="228599"/>
                </a:lnTo>
                <a:lnTo>
                  <a:pt x="640079" y="0"/>
                </a:lnTo>
                <a:lnTo>
                  <a:pt x="1036026" y="228600"/>
                </a:lnTo>
                <a:close/>
              </a:path>
            </a:pathLst>
          </a:custGeom>
          <a:noFill/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6751" y="0"/>
            <a:ext cx="475137" cy="6217920"/>
          </a:xfrm>
          <a:custGeom>
            <a:avLst/>
            <a:gdLst/>
            <a:ahLst/>
            <a:cxnLst/>
            <a:rect l="l" t="t" r="r" b="b"/>
            <a:pathLst>
              <a:path w="475137" h="6217920">
                <a:moveTo>
                  <a:pt x="420449" y="6217920"/>
                </a:moveTo>
                <a:moveTo>
                  <a:pt x="475137" y="137160"/>
                </a:moveTo>
                <a:lnTo>
                  <a:pt x="475137" y="411480"/>
                </a:lnTo>
                <a:lnTo>
                  <a:pt x="237569" y="548640"/>
                </a:lnTo>
                <a:lnTo>
                  <a:pt x="0" y="411480"/>
                </a:lnTo>
                <a:lnTo>
                  <a:pt x="0" y="137159"/>
                </a:lnTo>
                <a:lnTo>
                  <a:pt x="237568" y="0"/>
                </a:lnTo>
                <a:lnTo>
                  <a:pt x="475137" y="137160"/>
                </a:lnTo>
                <a:close/>
              </a:path>
            </a:pathLst>
          </a:custGeom>
          <a:noFill/>
          <a:ln w="635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Cloudbright — copy-trading platform</a:t>
            </a:r>
            <a:br/>
            <a:r>
              <a:t>that makes it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One-click copy trading — no technical skills required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Start from just $50 — accessible to everyone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100+ verified bots across all risk levels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Full transparency: every trade, every metric, real-time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Commission only on profit — our incentives align with yours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188720"/>
            <a:ext cx="4297680" cy="475488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Image: Platform dashboard</a:t>
            </a:r>
            <a:br/>
            <a:r>
              <a:t>screenshot or mockup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3503" y="-274320"/>
            <a:ext cx="10442097" cy="1371600"/>
          </a:xfrm>
          <a:custGeom>
            <a:avLst/>
            <a:gdLst/>
            <a:ahLst/>
            <a:cxnLst/>
            <a:rect l="l" t="t" r="r" b="b"/>
            <a:pathLst>
              <a:path w="10442097" h="1371600">
                <a:moveTo>
                  <a:pt x="10442097" y="0"/>
                </a:moveTo>
                <a:moveTo>
                  <a:pt x="950273" y="548640"/>
                </a:moveTo>
                <a:lnTo>
                  <a:pt x="950273" y="1097280"/>
                </a:lnTo>
                <a:lnTo>
                  <a:pt x="475137" y="1371600"/>
                </a:lnTo>
                <a:lnTo>
                  <a:pt x="0" y="1097280"/>
                </a:lnTo>
                <a:lnTo>
                  <a:pt x="0" y="548639"/>
                </a:lnTo>
                <a:lnTo>
                  <a:pt x="475136" y="274320"/>
                </a:lnTo>
                <a:lnTo>
                  <a:pt x="950273" y="54864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9002" y="0"/>
            <a:ext cx="10923798" cy="731520"/>
          </a:xfrm>
          <a:custGeom>
            <a:avLst/>
            <a:gdLst/>
            <a:ahLst/>
            <a:cxnLst/>
            <a:rect l="l" t="t" r="r" b="b"/>
            <a:pathLst>
              <a:path w="10923798" h="731520">
                <a:moveTo>
                  <a:pt x="10923798" y="45720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noFill/>
          <a:ln w="9525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182880" y="0"/>
            <a:ext cx="1036026" cy="5669280"/>
          </a:xfrm>
          <a:custGeom>
            <a:avLst/>
            <a:gdLst/>
            <a:ahLst/>
            <a:cxnLst/>
            <a:rect l="l" t="t" r="r" b="b"/>
            <a:pathLst>
              <a:path w="1036026" h="5669280">
                <a:moveTo>
                  <a:pt x="0" y="5669280"/>
                </a:moveTo>
                <a:moveTo>
                  <a:pt x="1036026" y="228600"/>
                </a:moveTo>
                <a:lnTo>
                  <a:pt x="1036026" y="685800"/>
                </a:lnTo>
                <a:lnTo>
                  <a:pt x="640080" y="914400"/>
                </a:lnTo>
                <a:lnTo>
                  <a:pt x="244133" y="685800"/>
                </a:lnTo>
                <a:lnTo>
                  <a:pt x="244133" y="228599"/>
                </a:lnTo>
                <a:lnTo>
                  <a:pt x="640079" y="0"/>
                </a:lnTo>
                <a:lnTo>
                  <a:pt x="1036026" y="228600"/>
                </a:lnTo>
                <a:close/>
              </a:path>
            </a:pathLst>
          </a:custGeom>
          <a:noFill/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6751" y="0"/>
            <a:ext cx="475137" cy="6217920"/>
          </a:xfrm>
          <a:custGeom>
            <a:avLst/>
            <a:gdLst/>
            <a:ahLst/>
            <a:cxnLst/>
            <a:rect l="l" t="t" r="r" b="b"/>
            <a:pathLst>
              <a:path w="475137" h="6217920">
                <a:moveTo>
                  <a:pt x="420449" y="6217920"/>
                </a:moveTo>
                <a:moveTo>
                  <a:pt x="475137" y="137160"/>
                </a:moveTo>
                <a:lnTo>
                  <a:pt x="475137" y="411480"/>
                </a:lnTo>
                <a:lnTo>
                  <a:pt x="237569" y="548640"/>
                </a:lnTo>
                <a:lnTo>
                  <a:pt x="0" y="411480"/>
                </a:lnTo>
                <a:lnTo>
                  <a:pt x="0" y="137159"/>
                </a:lnTo>
                <a:lnTo>
                  <a:pt x="237568" y="0"/>
                </a:lnTo>
                <a:lnTo>
                  <a:pt x="475137" y="137160"/>
                </a:lnTo>
                <a:close/>
              </a:path>
            </a:pathLst>
          </a:custGeom>
          <a:noFill/>
          <a:ln w="635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Start in 3 Simple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Top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Deposit funds via crypto</a:t>
            </a:r>
            <a:br/>
            <a:r>
              <a:t>or fiat. Minimum $50.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5760720"/>
            <a:ext cx="1828800" cy="91440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Icon: 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80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Copy a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Browse marketplace, pick</a:t>
            </a:r>
            <a:br/>
            <a:r>
              <a:t>a verified bot, one click.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5760720"/>
            <a:ext cx="1828800" cy="91440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Icon: 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880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Collect Profits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Bot trades 24/7.</a:t>
            </a:r>
            <a:br/>
            <a:r>
              <a:t>Withdraw anytime.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5760720"/>
            <a:ext cx="1828800" cy="91440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Icon: 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3503" y="-274320"/>
            <a:ext cx="10442097" cy="1371600"/>
          </a:xfrm>
          <a:custGeom>
            <a:avLst/>
            <a:gdLst/>
            <a:ahLst/>
            <a:cxnLst/>
            <a:rect l="l" t="t" r="r" b="b"/>
            <a:pathLst>
              <a:path w="10442097" h="1371600">
                <a:moveTo>
                  <a:pt x="10442097" y="0"/>
                </a:moveTo>
                <a:moveTo>
                  <a:pt x="950273" y="548640"/>
                </a:moveTo>
                <a:lnTo>
                  <a:pt x="950273" y="1097280"/>
                </a:lnTo>
                <a:lnTo>
                  <a:pt x="475137" y="1371600"/>
                </a:lnTo>
                <a:lnTo>
                  <a:pt x="0" y="1097280"/>
                </a:lnTo>
                <a:lnTo>
                  <a:pt x="0" y="548639"/>
                </a:lnTo>
                <a:lnTo>
                  <a:pt x="475136" y="274320"/>
                </a:lnTo>
                <a:lnTo>
                  <a:pt x="950273" y="54864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9002" y="0"/>
            <a:ext cx="10923798" cy="731520"/>
          </a:xfrm>
          <a:custGeom>
            <a:avLst/>
            <a:gdLst/>
            <a:ahLst/>
            <a:cxnLst/>
            <a:rect l="l" t="t" r="r" b="b"/>
            <a:pathLst>
              <a:path w="10923798" h="731520">
                <a:moveTo>
                  <a:pt x="10923798" y="45720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noFill/>
          <a:ln w="9525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182880" y="0"/>
            <a:ext cx="1036026" cy="5669280"/>
          </a:xfrm>
          <a:custGeom>
            <a:avLst/>
            <a:gdLst/>
            <a:ahLst/>
            <a:cxnLst/>
            <a:rect l="l" t="t" r="r" b="b"/>
            <a:pathLst>
              <a:path w="1036026" h="5669280">
                <a:moveTo>
                  <a:pt x="0" y="5669280"/>
                </a:moveTo>
                <a:moveTo>
                  <a:pt x="1036026" y="228600"/>
                </a:moveTo>
                <a:lnTo>
                  <a:pt x="1036026" y="685800"/>
                </a:lnTo>
                <a:lnTo>
                  <a:pt x="640080" y="914400"/>
                </a:lnTo>
                <a:lnTo>
                  <a:pt x="244133" y="685800"/>
                </a:lnTo>
                <a:lnTo>
                  <a:pt x="244133" y="228599"/>
                </a:lnTo>
                <a:lnTo>
                  <a:pt x="640079" y="0"/>
                </a:lnTo>
                <a:lnTo>
                  <a:pt x="1036026" y="228600"/>
                </a:lnTo>
                <a:close/>
              </a:path>
            </a:pathLst>
          </a:custGeom>
          <a:noFill/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6751" y="0"/>
            <a:ext cx="475137" cy="6217920"/>
          </a:xfrm>
          <a:custGeom>
            <a:avLst/>
            <a:gdLst/>
            <a:ahLst/>
            <a:cxnLst/>
            <a:rect l="l" t="t" r="r" b="b"/>
            <a:pathLst>
              <a:path w="475137" h="6217920">
                <a:moveTo>
                  <a:pt x="420449" y="6217920"/>
                </a:moveTo>
                <a:moveTo>
                  <a:pt x="475137" y="137160"/>
                </a:moveTo>
                <a:lnTo>
                  <a:pt x="475137" y="411480"/>
                </a:lnTo>
                <a:lnTo>
                  <a:pt x="237569" y="548640"/>
                </a:lnTo>
                <a:lnTo>
                  <a:pt x="0" y="411480"/>
                </a:lnTo>
                <a:lnTo>
                  <a:pt x="0" y="137159"/>
                </a:lnTo>
                <a:lnTo>
                  <a:pt x="237568" y="0"/>
                </a:lnTo>
                <a:lnTo>
                  <a:pt x="475137" y="137160"/>
                </a:lnTo>
                <a:close/>
              </a:path>
            </a:pathLst>
          </a:custGeom>
          <a:noFill/>
          <a:ln w="635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Complete Copy Trading Platform</a:t>
            </a:r>
          </a:p>
        </p:txBody>
      </p:sp>
      <p:sp>
        <p:nvSpPr>
          <p:cNvPr id="9" name="Freeform 8"/>
          <p:cNvSpPr/>
          <p:nvPr/>
        </p:nvSpPr>
        <p:spPr>
          <a:xfrm>
            <a:off x="49002" y="0"/>
            <a:ext cx="682518" cy="2651760"/>
          </a:xfrm>
          <a:custGeom>
            <a:avLst/>
            <a:gdLst/>
            <a:ahLst/>
            <a:cxnLst/>
            <a:rect l="l" t="t" r="r" b="b"/>
            <a:pathLst>
              <a:path w="682518" h="2651760">
                <a:moveTo>
                  <a:pt x="682518" y="265176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71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100+ verified bots</a:t>
            </a:r>
            <a:br/>
            <a:r>
              <a:t>Grid, Scalping, MM, Leverage</a:t>
            </a:r>
          </a:p>
        </p:txBody>
      </p:sp>
      <p:sp>
        <p:nvSpPr>
          <p:cNvPr id="12" name="Freeform 11"/>
          <p:cNvSpPr/>
          <p:nvPr/>
        </p:nvSpPr>
        <p:spPr>
          <a:xfrm>
            <a:off x="49002" y="0"/>
            <a:ext cx="3882918" cy="2651760"/>
          </a:xfrm>
          <a:custGeom>
            <a:avLst/>
            <a:gdLst/>
            <a:ahLst/>
            <a:cxnLst/>
            <a:rect l="l" t="t" r="r" b="b"/>
            <a:pathLst>
              <a:path w="3882918" h="2651760">
                <a:moveTo>
                  <a:pt x="3882918" y="265176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Risk Levels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71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Conservative to aggressive</a:t>
            </a:r>
            <a:br/>
            <a:r>
              <a:t>Filter by Sharpe, drawdown, ROI</a:t>
            </a:r>
          </a:p>
        </p:txBody>
      </p:sp>
      <p:sp>
        <p:nvSpPr>
          <p:cNvPr id="15" name="Freeform 14"/>
          <p:cNvSpPr/>
          <p:nvPr/>
        </p:nvSpPr>
        <p:spPr>
          <a:xfrm>
            <a:off x="49002" y="0"/>
            <a:ext cx="682518" cy="4480560"/>
          </a:xfrm>
          <a:custGeom>
            <a:avLst/>
            <a:gdLst/>
            <a:ahLst/>
            <a:cxnLst/>
            <a:rect l="l" t="t" r="r" b="b"/>
            <a:pathLst>
              <a:path w="682518" h="4480560">
                <a:moveTo>
                  <a:pt x="682518" y="448056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Real-Time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00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 P&amp;L, equity curves</a:t>
            </a:r>
            <a:br/>
            <a:r>
              <a:t>Complete trade history</a:t>
            </a:r>
          </a:p>
        </p:txBody>
      </p:sp>
      <p:sp>
        <p:nvSpPr>
          <p:cNvPr id="18" name="Freeform 17"/>
          <p:cNvSpPr/>
          <p:nvPr/>
        </p:nvSpPr>
        <p:spPr>
          <a:xfrm>
            <a:off x="49002" y="0"/>
            <a:ext cx="3882918" cy="4480560"/>
          </a:xfrm>
          <a:custGeom>
            <a:avLst/>
            <a:gdLst/>
            <a:ahLst/>
            <a:cxnLst/>
            <a:rect l="l" t="t" r="r" b="b"/>
            <a:pathLst>
              <a:path w="3882918" h="4480560">
                <a:moveTo>
                  <a:pt x="3882918" y="448056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Multi-Exchange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800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Binance, Bybit, OKX</a:t>
            </a:r>
            <a:br/>
            <a:r>
              <a:t>KuCoin, Kraken &amp; more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914400"/>
            <a:ext cx="4572000" cy="530352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Image: Product screenshots</a:t>
            </a:r>
            <a:br/>
            <a:r>
              <a:t>Marketplace / Dashboard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3503" y="-274320"/>
            <a:ext cx="10442097" cy="1371600"/>
          </a:xfrm>
          <a:custGeom>
            <a:avLst/>
            <a:gdLst/>
            <a:ahLst/>
            <a:cxnLst/>
            <a:rect l="l" t="t" r="r" b="b"/>
            <a:pathLst>
              <a:path w="10442097" h="1371600">
                <a:moveTo>
                  <a:pt x="10442097" y="0"/>
                </a:moveTo>
                <a:moveTo>
                  <a:pt x="950273" y="548640"/>
                </a:moveTo>
                <a:lnTo>
                  <a:pt x="950273" y="1097280"/>
                </a:lnTo>
                <a:lnTo>
                  <a:pt x="475137" y="1371600"/>
                </a:lnTo>
                <a:lnTo>
                  <a:pt x="0" y="1097280"/>
                </a:lnTo>
                <a:lnTo>
                  <a:pt x="0" y="548639"/>
                </a:lnTo>
                <a:lnTo>
                  <a:pt x="475136" y="274320"/>
                </a:lnTo>
                <a:lnTo>
                  <a:pt x="950273" y="54864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9002" y="0"/>
            <a:ext cx="10923798" cy="731520"/>
          </a:xfrm>
          <a:custGeom>
            <a:avLst/>
            <a:gdLst/>
            <a:ahLst/>
            <a:cxnLst/>
            <a:rect l="l" t="t" r="r" b="b"/>
            <a:pathLst>
              <a:path w="10923798" h="731520">
                <a:moveTo>
                  <a:pt x="10923798" y="45720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noFill/>
          <a:ln w="9525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182880" y="0"/>
            <a:ext cx="1036026" cy="5669280"/>
          </a:xfrm>
          <a:custGeom>
            <a:avLst/>
            <a:gdLst/>
            <a:ahLst/>
            <a:cxnLst/>
            <a:rect l="l" t="t" r="r" b="b"/>
            <a:pathLst>
              <a:path w="1036026" h="5669280">
                <a:moveTo>
                  <a:pt x="0" y="5669280"/>
                </a:moveTo>
                <a:moveTo>
                  <a:pt x="1036026" y="228600"/>
                </a:moveTo>
                <a:lnTo>
                  <a:pt x="1036026" y="685800"/>
                </a:lnTo>
                <a:lnTo>
                  <a:pt x="640080" y="914400"/>
                </a:lnTo>
                <a:lnTo>
                  <a:pt x="244133" y="685800"/>
                </a:lnTo>
                <a:lnTo>
                  <a:pt x="244133" y="228599"/>
                </a:lnTo>
                <a:lnTo>
                  <a:pt x="640079" y="0"/>
                </a:lnTo>
                <a:lnTo>
                  <a:pt x="1036026" y="228600"/>
                </a:lnTo>
                <a:close/>
              </a:path>
            </a:pathLst>
          </a:custGeom>
          <a:noFill/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6751" y="0"/>
            <a:ext cx="475137" cy="6217920"/>
          </a:xfrm>
          <a:custGeom>
            <a:avLst/>
            <a:gdLst/>
            <a:ahLst/>
            <a:cxnLst/>
            <a:rect l="l" t="t" r="r" b="b"/>
            <a:pathLst>
              <a:path w="475137" h="6217920">
                <a:moveTo>
                  <a:pt x="420449" y="6217920"/>
                </a:moveTo>
                <a:moveTo>
                  <a:pt x="475137" y="137160"/>
                </a:moveTo>
                <a:lnTo>
                  <a:pt x="475137" y="411480"/>
                </a:lnTo>
                <a:lnTo>
                  <a:pt x="237569" y="548640"/>
                </a:lnTo>
                <a:lnTo>
                  <a:pt x="0" y="411480"/>
                </a:lnTo>
                <a:lnTo>
                  <a:pt x="0" y="137159"/>
                </a:lnTo>
                <a:lnTo>
                  <a:pt x="237568" y="0"/>
                </a:lnTo>
                <a:lnTo>
                  <a:pt x="475137" y="137160"/>
                </a:lnTo>
                <a:close/>
              </a:path>
            </a:pathLst>
          </a:custGeom>
          <a:noFill/>
          <a:ln w="635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Aligned With Your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Calibri"/>
              </a:defRPr>
            </a:pPr>
            <a:r>
              <a:t>1-2%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Commission on Profit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97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 subscriptions</a:t>
            </a:r>
            <a:br/>
            <a:r>
              <a:t>No hidden fees</a:t>
            </a:r>
            <a:br/>
            <a:r>
              <a:t>No upfront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603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 If you don't earn — we don't earn</a:t>
            </a:r>
          </a:p>
          <a:p>
            <a:pPr algn="l">
              <a:spcAft>
                <a:spcPts val="11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 Revenue scales with user success</a:t>
            </a:r>
          </a:p>
          <a:p>
            <a:pPr algn="l">
              <a:spcAft>
                <a:spcPts val="11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 Lock-in periods: 7-180 days (longer = higher returns)</a:t>
            </a:r>
          </a:p>
          <a:p>
            <a:pPr algn="l">
              <a:spcAft>
                <a:spcPts val="11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 Transparent fee structure visible before copy</a:t>
            </a:r>
          </a:p>
          <a:p>
            <a:pPr algn="l">
              <a:spcAft>
                <a:spcPts val="11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 Zero fees on deposits and platform usage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2286000"/>
            <a:ext cx="2286000" cy="365760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Image: Revenue</a:t>
            </a:r>
            <a:br/>
            <a:r>
              <a:t>alignment diagram</a:t>
            </a:r>
            <a:br/>
            <a:r>
              <a:t>or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3503" y="-274320"/>
            <a:ext cx="10442097" cy="1371600"/>
          </a:xfrm>
          <a:custGeom>
            <a:avLst/>
            <a:gdLst/>
            <a:ahLst/>
            <a:cxnLst/>
            <a:rect l="l" t="t" r="r" b="b"/>
            <a:pathLst>
              <a:path w="10442097" h="1371600">
                <a:moveTo>
                  <a:pt x="10442097" y="0"/>
                </a:moveTo>
                <a:moveTo>
                  <a:pt x="950273" y="548640"/>
                </a:moveTo>
                <a:lnTo>
                  <a:pt x="950273" y="1097280"/>
                </a:lnTo>
                <a:lnTo>
                  <a:pt x="475137" y="1371600"/>
                </a:lnTo>
                <a:lnTo>
                  <a:pt x="0" y="1097280"/>
                </a:lnTo>
                <a:lnTo>
                  <a:pt x="0" y="548639"/>
                </a:lnTo>
                <a:lnTo>
                  <a:pt x="475136" y="274320"/>
                </a:lnTo>
                <a:lnTo>
                  <a:pt x="950273" y="54864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9002" y="0"/>
            <a:ext cx="10923798" cy="731520"/>
          </a:xfrm>
          <a:custGeom>
            <a:avLst/>
            <a:gdLst/>
            <a:ahLst/>
            <a:cxnLst/>
            <a:rect l="l" t="t" r="r" b="b"/>
            <a:pathLst>
              <a:path w="10923798" h="731520">
                <a:moveTo>
                  <a:pt x="10923798" y="45720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noFill/>
          <a:ln w="9525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182880" y="0"/>
            <a:ext cx="1036026" cy="5669280"/>
          </a:xfrm>
          <a:custGeom>
            <a:avLst/>
            <a:gdLst/>
            <a:ahLst/>
            <a:cxnLst/>
            <a:rect l="l" t="t" r="r" b="b"/>
            <a:pathLst>
              <a:path w="1036026" h="5669280">
                <a:moveTo>
                  <a:pt x="0" y="5669280"/>
                </a:moveTo>
                <a:moveTo>
                  <a:pt x="1036026" y="228600"/>
                </a:moveTo>
                <a:lnTo>
                  <a:pt x="1036026" y="685800"/>
                </a:lnTo>
                <a:lnTo>
                  <a:pt x="640080" y="914400"/>
                </a:lnTo>
                <a:lnTo>
                  <a:pt x="244133" y="685800"/>
                </a:lnTo>
                <a:lnTo>
                  <a:pt x="244133" y="228599"/>
                </a:lnTo>
                <a:lnTo>
                  <a:pt x="640079" y="0"/>
                </a:lnTo>
                <a:lnTo>
                  <a:pt x="1036026" y="228600"/>
                </a:lnTo>
                <a:close/>
              </a:path>
            </a:pathLst>
          </a:custGeom>
          <a:noFill/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6751" y="0"/>
            <a:ext cx="475137" cy="6217920"/>
          </a:xfrm>
          <a:custGeom>
            <a:avLst/>
            <a:gdLst/>
            <a:ahLst/>
            <a:cxnLst/>
            <a:rect l="l" t="t" r="r" b="b"/>
            <a:pathLst>
              <a:path w="475137" h="6217920">
                <a:moveTo>
                  <a:pt x="420449" y="6217920"/>
                </a:moveTo>
                <a:moveTo>
                  <a:pt x="475137" y="137160"/>
                </a:moveTo>
                <a:lnTo>
                  <a:pt x="475137" y="411480"/>
                </a:lnTo>
                <a:lnTo>
                  <a:pt x="237569" y="548640"/>
                </a:lnTo>
                <a:lnTo>
                  <a:pt x="0" y="411480"/>
                </a:lnTo>
                <a:lnTo>
                  <a:pt x="0" y="137159"/>
                </a:lnTo>
                <a:lnTo>
                  <a:pt x="237568" y="0"/>
                </a:lnTo>
                <a:lnTo>
                  <a:pt x="475137" y="137160"/>
                </a:lnTo>
                <a:close/>
              </a:path>
            </a:pathLst>
          </a:custGeom>
          <a:noFill/>
          <a:ln w="635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TRACTION &amp;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January 2026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  <a:latin typeface="Calibri"/>
              </a:defRPr>
            </a:pPr>
            <a:r>
              <a:t>18.7%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Average</a:t>
            </a:r>
            <a:br/>
            <a:r>
              <a:t>Monthly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  <a:latin typeface="Calibri"/>
              </a:defRPr>
            </a:pPr>
            <a:r>
              <a:t>34.2%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74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Top Bot</a:t>
            </a:r>
            <a:br/>
            <a:r>
              <a:t>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74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Verified</a:t>
            </a:r>
            <a:br/>
            <a:r>
              <a:t>Trading Bots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  <a:latin typeface="Calibri"/>
              </a:defRPr>
            </a:pPr>
            <a:r>
              <a:t>9+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9" y="3474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Supported</a:t>
            </a:r>
            <a:br/>
            <a:r>
              <a:t>Exchanges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  <a:latin typeface="Calibri"/>
              </a:defRPr>
            </a:pPr>
            <a:r>
              <a:t>$50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474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Minimum</a:t>
            </a:r>
            <a:br/>
            <a:r>
              <a:t>Investment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By strategy:  Momentum 22.4%  |  Mean-reversion 15.8%  |  Arbitrage 12.1%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572000"/>
            <a:ext cx="3840480" cy="164592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Image: Performance chart / growth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3503" y="-274320"/>
            <a:ext cx="10442097" cy="1371600"/>
          </a:xfrm>
          <a:custGeom>
            <a:avLst/>
            <a:gdLst/>
            <a:ahLst/>
            <a:cxnLst/>
            <a:rect l="l" t="t" r="r" b="b"/>
            <a:pathLst>
              <a:path w="10442097" h="1371600">
                <a:moveTo>
                  <a:pt x="10442097" y="0"/>
                </a:moveTo>
                <a:moveTo>
                  <a:pt x="950273" y="548640"/>
                </a:moveTo>
                <a:lnTo>
                  <a:pt x="950273" y="1097280"/>
                </a:lnTo>
                <a:lnTo>
                  <a:pt x="475137" y="1371600"/>
                </a:lnTo>
                <a:lnTo>
                  <a:pt x="0" y="1097280"/>
                </a:lnTo>
                <a:lnTo>
                  <a:pt x="0" y="548639"/>
                </a:lnTo>
                <a:lnTo>
                  <a:pt x="475136" y="274320"/>
                </a:lnTo>
                <a:lnTo>
                  <a:pt x="950273" y="54864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9002" y="0"/>
            <a:ext cx="10923798" cy="731520"/>
          </a:xfrm>
          <a:custGeom>
            <a:avLst/>
            <a:gdLst/>
            <a:ahLst/>
            <a:cxnLst/>
            <a:rect l="l" t="t" r="r" b="b"/>
            <a:pathLst>
              <a:path w="10923798" h="731520">
                <a:moveTo>
                  <a:pt x="10923798" y="45720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noFill/>
          <a:ln w="9525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182880" y="0"/>
            <a:ext cx="1036026" cy="5669280"/>
          </a:xfrm>
          <a:custGeom>
            <a:avLst/>
            <a:gdLst/>
            <a:ahLst/>
            <a:cxnLst/>
            <a:rect l="l" t="t" r="r" b="b"/>
            <a:pathLst>
              <a:path w="1036026" h="5669280">
                <a:moveTo>
                  <a:pt x="0" y="5669280"/>
                </a:moveTo>
                <a:moveTo>
                  <a:pt x="1036026" y="228600"/>
                </a:moveTo>
                <a:lnTo>
                  <a:pt x="1036026" y="685800"/>
                </a:lnTo>
                <a:lnTo>
                  <a:pt x="640080" y="914400"/>
                </a:lnTo>
                <a:lnTo>
                  <a:pt x="244133" y="685800"/>
                </a:lnTo>
                <a:lnTo>
                  <a:pt x="244133" y="228599"/>
                </a:lnTo>
                <a:lnTo>
                  <a:pt x="640079" y="0"/>
                </a:lnTo>
                <a:lnTo>
                  <a:pt x="1036026" y="228600"/>
                </a:lnTo>
                <a:close/>
              </a:path>
            </a:pathLst>
          </a:custGeom>
          <a:noFill/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6751" y="0"/>
            <a:ext cx="475137" cy="6217920"/>
          </a:xfrm>
          <a:custGeom>
            <a:avLst/>
            <a:gdLst/>
            <a:ahLst/>
            <a:cxnLst/>
            <a:rect l="l" t="t" r="r" b="b"/>
            <a:pathLst>
              <a:path w="475137" h="6217920">
                <a:moveTo>
                  <a:pt x="420449" y="6217920"/>
                </a:moveTo>
                <a:moveTo>
                  <a:pt x="475137" y="137160"/>
                </a:moveTo>
                <a:lnTo>
                  <a:pt x="475137" y="411480"/>
                </a:lnTo>
                <a:lnTo>
                  <a:pt x="237569" y="548640"/>
                </a:lnTo>
                <a:lnTo>
                  <a:pt x="0" y="411480"/>
                </a:lnTo>
                <a:lnTo>
                  <a:pt x="0" y="137159"/>
                </a:lnTo>
                <a:lnTo>
                  <a:pt x="237568" y="0"/>
                </a:lnTo>
                <a:lnTo>
                  <a:pt x="475137" y="137160"/>
                </a:lnTo>
                <a:close/>
              </a:path>
            </a:pathLst>
          </a:custGeom>
          <a:noFill/>
          <a:ln w="635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Massive and Growing Market</a:t>
            </a:r>
          </a:p>
        </p:txBody>
      </p:sp>
      <p:sp>
        <p:nvSpPr>
          <p:cNvPr id="9" name="Freeform 8"/>
          <p:cNvSpPr/>
          <p:nvPr/>
        </p:nvSpPr>
        <p:spPr>
          <a:xfrm>
            <a:off x="42877" y="0"/>
            <a:ext cx="688643" cy="2331720"/>
          </a:xfrm>
          <a:custGeom>
            <a:avLst/>
            <a:gdLst/>
            <a:ahLst/>
            <a:cxnLst/>
            <a:rect l="l" t="t" r="r" b="b"/>
            <a:pathLst>
              <a:path w="688643" h="2331720">
                <a:moveTo>
                  <a:pt x="688643" y="2331720"/>
                </a:moveTo>
                <a:moveTo>
                  <a:pt x="554325" y="160020"/>
                </a:moveTo>
                <a:lnTo>
                  <a:pt x="554325" y="480060"/>
                </a:lnTo>
                <a:lnTo>
                  <a:pt x="277163" y="640080"/>
                </a:lnTo>
                <a:lnTo>
                  <a:pt x="0" y="480060"/>
                </a:lnTo>
                <a:lnTo>
                  <a:pt x="0" y="160019"/>
                </a:lnTo>
                <a:lnTo>
                  <a:pt x="277162" y="0"/>
                </a:lnTo>
                <a:lnTo>
                  <a:pt x="554325" y="16002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$200B+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31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rPr dirty="0"/>
              <a:t>Crypto ETF AUM — institutional money is here</a:t>
            </a:r>
          </a:p>
        </p:txBody>
      </p:sp>
      <p:sp>
        <p:nvSpPr>
          <p:cNvPr id="12" name="Freeform 11"/>
          <p:cNvSpPr/>
          <p:nvPr/>
        </p:nvSpPr>
        <p:spPr>
          <a:xfrm>
            <a:off x="42877" y="0"/>
            <a:ext cx="688643" cy="3383280"/>
          </a:xfrm>
          <a:custGeom>
            <a:avLst/>
            <a:gdLst/>
            <a:ahLst/>
            <a:cxnLst/>
            <a:rect l="l" t="t" r="r" b="b"/>
            <a:pathLst>
              <a:path w="688643" h="3383280">
                <a:moveTo>
                  <a:pt x="688643" y="3383280"/>
                </a:moveTo>
                <a:moveTo>
                  <a:pt x="554325" y="160020"/>
                </a:moveTo>
                <a:lnTo>
                  <a:pt x="554325" y="480060"/>
                </a:lnTo>
                <a:lnTo>
                  <a:pt x="277163" y="640080"/>
                </a:lnTo>
                <a:lnTo>
                  <a:pt x="0" y="480060"/>
                </a:lnTo>
                <a:lnTo>
                  <a:pt x="0" y="160019"/>
                </a:lnTo>
                <a:lnTo>
                  <a:pt x="277162" y="0"/>
                </a:lnTo>
                <a:lnTo>
                  <a:pt x="554325" y="16002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3337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$3.2T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83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Total crypto market cap in 2026</a:t>
            </a:r>
          </a:p>
        </p:txBody>
      </p:sp>
      <p:sp>
        <p:nvSpPr>
          <p:cNvPr id="15" name="Freeform 14"/>
          <p:cNvSpPr/>
          <p:nvPr/>
        </p:nvSpPr>
        <p:spPr>
          <a:xfrm>
            <a:off x="42877" y="0"/>
            <a:ext cx="688643" cy="4434840"/>
          </a:xfrm>
          <a:custGeom>
            <a:avLst/>
            <a:gdLst/>
            <a:ahLst/>
            <a:cxnLst/>
            <a:rect l="l" t="t" r="r" b="b"/>
            <a:pathLst>
              <a:path w="688643" h="4434840">
                <a:moveTo>
                  <a:pt x="688643" y="4434840"/>
                </a:moveTo>
                <a:moveTo>
                  <a:pt x="554325" y="160020"/>
                </a:moveTo>
                <a:lnTo>
                  <a:pt x="554325" y="480060"/>
                </a:lnTo>
                <a:lnTo>
                  <a:pt x="277163" y="640080"/>
                </a:lnTo>
                <a:lnTo>
                  <a:pt x="0" y="480060"/>
                </a:lnTo>
                <a:lnTo>
                  <a:pt x="0" y="160019"/>
                </a:lnTo>
                <a:lnTo>
                  <a:pt x="277162" y="0"/>
                </a:lnTo>
                <a:lnTo>
                  <a:pt x="554325" y="16002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500M+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434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Global crypto users — growing 20% YoY</a:t>
            </a:r>
          </a:p>
        </p:txBody>
      </p:sp>
      <p:sp>
        <p:nvSpPr>
          <p:cNvPr id="18" name="Freeform 17"/>
          <p:cNvSpPr/>
          <p:nvPr/>
        </p:nvSpPr>
        <p:spPr>
          <a:xfrm>
            <a:off x="42877" y="0"/>
            <a:ext cx="688643" cy="5486399"/>
          </a:xfrm>
          <a:custGeom>
            <a:avLst/>
            <a:gdLst/>
            <a:ahLst/>
            <a:cxnLst/>
            <a:rect l="l" t="t" r="r" b="b"/>
            <a:pathLst>
              <a:path w="688643" h="5486399">
                <a:moveTo>
                  <a:pt x="688643" y="5486399"/>
                </a:moveTo>
                <a:moveTo>
                  <a:pt x="554325" y="160020"/>
                </a:moveTo>
                <a:lnTo>
                  <a:pt x="554325" y="480060"/>
                </a:lnTo>
                <a:lnTo>
                  <a:pt x="277163" y="640080"/>
                </a:lnTo>
                <a:lnTo>
                  <a:pt x="0" y="480060"/>
                </a:lnTo>
                <a:lnTo>
                  <a:pt x="0" y="160019"/>
                </a:lnTo>
                <a:lnTo>
                  <a:pt x="277162" y="0"/>
                </a:lnTo>
                <a:lnTo>
                  <a:pt x="554325" y="16002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54406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Copy Trading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48639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Fastest-growing segment in crypto fintech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914400"/>
            <a:ext cx="4389120" cy="530352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Image: Market size chart</a:t>
            </a:r>
            <a:br/>
            <a:r>
              <a:t>TAM / SAM / SOM diagram</a:t>
            </a:r>
            <a:br/>
            <a:r>
              <a:t>or growth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3503" y="-274320"/>
            <a:ext cx="10442097" cy="1371600"/>
          </a:xfrm>
          <a:custGeom>
            <a:avLst/>
            <a:gdLst/>
            <a:ahLst/>
            <a:cxnLst/>
            <a:rect l="l" t="t" r="r" b="b"/>
            <a:pathLst>
              <a:path w="10442097" h="1371600">
                <a:moveTo>
                  <a:pt x="10442097" y="0"/>
                </a:moveTo>
                <a:moveTo>
                  <a:pt x="950273" y="548640"/>
                </a:moveTo>
                <a:lnTo>
                  <a:pt x="950273" y="1097280"/>
                </a:lnTo>
                <a:lnTo>
                  <a:pt x="475137" y="1371600"/>
                </a:lnTo>
                <a:lnTo>
                  <a:pt x="0" y="1097280"/>
                </a:lnTo>
                <a:lnTo>
                  <a:pt x="0" y="548639"/>
                </a:lnTo>
                <a:lnTo>
                  <a:pt x="475136" y="274320"/>
                </a:lnTo>
                <a:lnTo>
                  <a:pt x="950273" y="54864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9002" y="0"/>
            <a:ext cx="10923798" cy="731520"/>
          </a:xfrm>
          <a:custGeom>
            <a:avLst/>
            <a:gdLst/>
            <a:ahLst/>
            <a:cxnLst/>
            <a:rect l="l" t="t" r="r" b="b"/>
            <a:pathLst>
              <a:path w="10923798" h="731520">
                <a:moveTo>
                  <a:pt x="10923798" y="45720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noFill/>
          <a:ln w="9525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182880" y="0"/>
            <a:ext cx="1036026" cy="5669280"/>
          </a:xfrm>
          <a:custGeom>
            <a:avLst/>
            <a:gdLst/>
            <a:ahLst/>
            <a:cxnLst/>
            <a:rect l="l" t="t" r="r" b="b"/>
            <a:pathLst>
              <a:path w="1036026" h="5669280">
                <a:moveTo>
                  <a:pt x="0" y="5669280"/>
                </a:moveTo>
                <a:moveTo>
                  <a:pt x="1036026" y="228600"/>
                </a:moveTo>
                <a:lnTo>
                  <a:pt x="1036026" y="685800"/>
                </a:lnTo>
                <a:lnTo>
                  <a:pt x="640080" y="914400"/>
                </a:lnTo>
                <a:lnTo>
                  <a:pt x="244133" y="685800"/>
                </a:lnTo>
                <a:lnTo>
                  <a:pt x="244133" y="228599"/>
                </a:lnTo>
                <a:lnTo>
                  <a:pt x="640079" y="0"/>
                </a:lnTo>
                <a:lnTo>
                  <a:pt x="1036026" y="228600"/>
                </a:lnTo>
                <a:close/>
              </a:path>
            </a:pathLst>
          </a:custGeom>
          <a:noFill/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6751" y="0"/>
            <a:ext cx="475137" cy="6217920"/>
          </a:xfrm>
          <a:custGeom>
            <a:avLst/>
            <a:gdLst/>
            <a:ahLst/>
            <a:cxnLst/>
            <a:rect l="l" t="t" r="r" b="b"/>
            <a:pathLst>
              <a:path w="475137" h="6217920">
                <a:moveTo>
                  <a:pt x="420449" y="6217920"/>
                </a:moveTo>
                <a:moveTo>
                  <a:pt x="475137" y="137160"/>
                </a:moveTo>
                <a:lnTo>
                  <a:pt x="475137" y="411480"/>
                </a:lnTo>
                <a:lnTo>
                  <a:pt x="237569" y="548640"/>
                </a:lnTo>
                <a:lnTo>
                  <a:pt x="0" y="411480"/>
                </a:lnTo>
                <a:lnTo>
                  <a:pt x="0" y="137159"/>
                </a:lnTo>
                <a:lnTo>
                  <a:pt x="237568" y="0"/>
                </a:lnTo>
                <a:lnTo>
                  <a:pt x="475137" y="137160"/>
                </a:lnTo>
                <a:close/>
              </a:path>
            </a:pathLst>
          </a:custGeom>
          <a:noFill/>
          <a:ln w="635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TECHNOLOGY &amp;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Bank-Grade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AES-256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Military-grade</a:t>
            </a:r>
            <a:br/>
            <a:r>
              <a:t>encryption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14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HSM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17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Hardware key</a:t>
            </a:r>
            <a:br/>
            <a: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2514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2FA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9" y="3017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Mandatory for</a:t>
            </a:r>
            <a:br/>
            <a:r>
              <a:t>all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Multi-Sig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Multi-signature</a:t>
            </a:r>
            <a:br/>
            <a:r>
              <a:t>authorization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99.9%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120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Platform</a:t>
            </a:r>
            <a:br/>
            <a:r>
              <a:t>uptime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&lt;200ms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199" y="5120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Average</a:t>
            </a:r>
            <a:br/>
            <a:r>
              <a:t>response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2860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Independent security audits passed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SSL/TLS everywhere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Multi-layer DDoS protection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24/7 security monitoring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Active bug bounty program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Continuous penetration testing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5029200"/>
            <a:ext cx="3657600" cy="137160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Image: Security badge / audit certificate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3503" y="-274320"/>
            <a:ext cx="10442097" cy="1371600"/>
          </a:xfrm>
          <a:custGeom>
            <a:avLst/>
            <a:gdLst/>
            <a:ahLst/>
            <a:cxnLst/>
            <a:rect l="l" t="t" r="r" b="b"/>
            <a:pathLst>
              <a:path w="10442097" h="1371600">
                <a:moveTo>
                  <a:pt x="10442097" y="0"/>
                </a:moveTo>
                <a:moveTo>
                  <a:pt x="950273" y="548640"/>
                </a:moveTo>
                <a:lnTo>
                  <a:pt x="950273" y="1097280"/>
                </a:lnTo>
                <a:lnTo>
                  <a:pt x="475137" y="1371600"/>
                </a:lnTo>
                <a:lnTo>
                  <a:pt x="0" y="1097280"/>
                </a:lnTo>
                <a:lnTo>
                  <a:pt x="0" y="548639"/>
                </a:lnTo>
                <a:lnTo>
                  <a:pt x="475136" y="274320"/>
                </a:lnTo>
                <a:lnTo>
                  <a:pt x="950273" y="54864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9002" y="0"/>
            <a:ext cx="10923798" cy="731520"/>
          </a:xfrm>
          <a:custGeom>
            <a:avLst/>
            <a:gdLst/>
            <a:ahLst/>
            <a:cxnLst/>
            <a:rect l="l" t="t" r="r" b="b"/>
            <a:pathLst>
              <a:path w="10923798" h="731520">
                <a:moveTo>
                  <a:pt x="10923798" y="45720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noFill/>
          <a:ln w="9525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182880" y="0"/>
            <a:ext cx="1036026" cy="5669280"/>
          </a:xfrm>
          <a:custGeom>
            <a:avLst/>
            <a:gdLst/>
            <a:ahLst/>
            <a:cxnLst/>
            <a:rect l="l" t="t" r="r" b="b"/>
            <a:pathLst>
              <a:path w="1036026" h="5669280">
                <a:moveTo>
                  <a:pt x="0" y="5669280"/>
                </a:moveTo>
                <a:moveTo>
                  <a:pt x="1036026" y="228600"/>
                </a:moveTo>
                <a:lnTo>
                  <a:pt x="1036026" y="685800"/>
                </a:lnTo>
                <a:lnTo>
                  <a:pt x="640080" y="914400"/>
                </a:lnTo>
                <a:lnTo>
                  <a:pt x="244133" y="685800"/>
                </a:lnTo>
                <a:lnTo>
                  <a:pt x="244133" y="228599"/>
                </a:lnTo>
                <a:lnTo>
                  <a:pt x="640079" y="0"/>
                </a:lnTo>
                <a:lnTo>
                  <a:pt x="1036026" y="228600"/>
                </a:lnTo>
                <a:close/>
              </a:path>
            </a:pathLst>
          </a:custGeom>
          <a:noFill/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6751" y="0"/>
            <a:ext cx="475137" cy="6217920"/>
          </a:xfrm>
          <a:custGeom>
            <a:avLst/>
            <a:gdLst/>
            <a:ahLst/>
            <a:cxnLst/>
            <a:rect l="l" t="t" r="r" b="b"/>
            <a:pathLst>
              <a:path w="475137" h="6217920">
                <a:moveTo>
                  <a:pt x="420449" y="6217920"/>
                </a:moveTo>
                <a:moveTo>
                  <a:pt x="475137" y="137160"/>
                </a:moveTo>
                <a:lnTo>
                  <a:pt x="475137" y="411480"/>
                </a:lnTo>
                <a:lnTo>
                  <a:pt x="237569" y="548640"/>
                </a:lnTo>
                <a:lnTo>
                  <a:pt x="0" y="411480"/>
                </a:lnTo>
                <a:lnTo>
                  <a:pt x="0" y="137159"/>
                </a:lnTo>
                <a:lnTo>
                  <a:pt x="237568" y="0"/>
                </a:lnTo>
                <a:lnTo>
                  <a:pt x="475137" y="137160"/>
                </a:lnTo>
                <a:close/>
              </a:path>
            </a:pathLst>
          </a:custGeom>
          <a:noFill/>
          <a:ln w="635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40+ Professionals, One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Anyun Yang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CEO &amp; Co-Founder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15 years institutional finance</a:t>
            </a:r>
            <a:br/>
            <a:r>
              <a:t>Goldman Sachs, HSBC Digital 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Photo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297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Dong Aiguo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663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CTO &amp; Co-Founder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029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HFT systems &amp; ML expert</a:t>
            </a:r>
            <a:br/>
            <a:r>
              <a:t>Leads Engineering &amp; AI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297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James Chen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663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COO &amp; Co-Founder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029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Operations &amp; strategy</a:t>
            </a:r>
            <a:br/>
            <a:r>
              <a:t>Exchange partnerships, bot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Photo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297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Samarth Ramesh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663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Head of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029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Cybersecurity &amp; compliance</a:t>
            </a:r>
            <a:br/>
            <a:r>
              <a:t>AES-256, HSM, audit oversight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Engineering &amp; AI   |   Security &amp; Compliance   |   Operations &amp; Strategy   |   Community &amp;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3503" y="-274320"/>
            <a:ext cx="10442097" cy="1371600"/>
          </a:xfrm>
          <a:custGeom>
            <a:avLst/>
            <a:gdLst/>
            <a:ahLst/>
            <a:cxnLst/>
            <a:rect l="l" t="t" r="r" b="b"/>
            <a:pathLst>
              <a:path w="10442097" h="1371600">
                <a:moveTo>
                  <a:pt x="10442097" y="0"/>
                </a:moveTo>
                <a:moveTo>
                  <a:pt x="950273" y="548640"/>
                </a:moveTo>
                <a:lnTo>
                  <a:pt x="950273" y="1097280"/>
                </a:lnTo>
                <a:lnTo>
                  <a:pt x="475137" y="1371600"/>
                </a:lnTo>
                <a:lnTo>
                  <a:pt x="0" y="1097280"/>
                </a:lnTo>
                <a:lnTo>
                  <a:pt x="0" y="548639"/>
                </a:lnTo>
                <a:lnTo>
                  <a:pt x="475136" y="274320"/>
                </a:lnTo>
                <a:lnTo>
                  <a:pt x="950273" y="54864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9002" y="0"/>
            <a:ext cx="10923798" cy="731520"/>
          </a:xfrm>
          <a:custGeom>
            <a:avLst/>
            <a:gdLst/>
            <a:ahLst/>
            <a:cxnLst/>
            <a:rect l="l" t="t" r="r" b="b"/>
            <a:pathLst>
              <a:path w="10923798" h="731520">
                <a:moveTo>
                  <a:pt x="10923798" y="457200"/>
                </a:moveTo>
                <a:moveTo>
                  <a:pt x="633515" y="182880"/>
                </a:moveTo>
                <a:lnTo>
                  <a:pt x="633515" y="548640"/>
                </a:lnTo>
                <a:lnTo>
                  <a:pt x="316758" y="731520"/>
                </a:lnTo>
                <a:lnTo>
                  <a:pt x="0" y="548640"/>
                </a:lnTo>
                <a:lnTo>
                  <a:pt x="0" y="182879"/>
                </a:lnTo>
                <a:lnTo>
                  <a:pt x="316757" y="0"/>
                </a:lnTo>
                <a:lnTo>
                  <a:pt x="633515" y="182880"/>
                </a:lnTo>
                <a:close/>
              </a:path>
            </a:pathLst>
          </a:custGeom>
          <a:noFill/>
          <a:ln w="9525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182880" y="0"/>
            <a:ext cx="1036026" cy="5669280"/>
          </a:xfrm>
          <a:custGeom>
            <a:avLst/>
            <a:gdLst/>
            <a:ahLst/>
            <a:cxnLst/>
            <a:rect l="l" t="t" r="r" b="b"/>
            <a:pathLst>
              <a:path w="1036026" h="5669280">
                <a:moveTo>
                  <a:pt x="0" y="5669280"/>
                </a:moveTo>
                <a:moveTo>
                  <a:pt x="1036026" y="228600"/>
                </a:moveTo>
                <a:lnTo>
                  <a:pt x="1036026" y="685800"/>
                </a:lnTo>
                <a:lnTo>
                  <a:pt x="640080" y="914400"/>
                </a:lnTo>
                <a:lnTo>
                  <a:pt x="244133" y="685800"/>
                </a:lnTo>
                <a:lnTo>
                  <a:pt x="244133" y="228599"/>
                </a:lnTo>
                <a:lnTo>
                  <a:pt x="640079" y="0"/>
                </a:lnTo>
                <a:lnTo>
                  <a:pt x="1036026" y="228600"/>
                </a:lnTo>
                <a:close/>
              </a:path>
            </a:pathLst>
          </a:custGeom>
          <a:noFill/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6751" y="0"/>
            <a:ext cx="475137" cy="6217920"/>
          </a:xfrm>
          <a:custGeom>
            <a:avLst/>
            <a:gdLst/>
            <a:ahLst/>
            <a:cxnLst/>
            <a:rect l="l" t="t" r="r" b="b"/>
            <a:pathLst>
              <a:path w="475137" h="6217920">
                <a:moveTo>
                  <a:pt x="420449" y="6217920"/>
                </a:moveTo>
                <a:moveTo>
                  <a:pt x="475137" y="137160"/>
                </a:moveTo>
                <a:lnTo>
                  <a:pt x="475137" y="411480"/>
                </a:lnTo>
                <a:lnTo>
                  <a:pt x="237569" y="548640"/>
                </a:lnTo>
                <a:lnTo>
                  <a:pt x="0" y="411480"/>
                </a:lnTo>
                <a:lnTo>
                  <a:pt x="0" y="137159"/>
                </a:lnTo>
                <a:lnTo>
                  <a:pt x="237568" y="0"/>
                </a:lnTo>
                <a:lnTo>
                  <a:pt x="475137" y="137160"/>
                </a:lnTo>
                <a:close/>
              </a:path>
            </a:pathLst>
          </a:custGeom>
          <a:noFill/>
          <a:ln w="635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Building for the Long Term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1051560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Q1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Platform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100+ bots, 9 exchanges</a:t>
            </a:r>
            <a:br/>
            <a:r>
              <a:t>Social trading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206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iOS &amp; Android</a:t>
            </a:r>
            <a:br/>
            <a:r>
              <a:t>Push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Strategy 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206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Custom bots via</a:t>
            </a:r>
            <a:br/>
            <a:r>
              <a:t>plain English 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HK Summit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4206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First annual</a:t>
            </a:r>
            <a:br/>
            <a:r>
              <a:t>Cloudbright conference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2027+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DEX &amp; DAO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206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DeFi integration</a:t>
            </a:r>
            <a:br/>
            <a:r>
              <a:t>Community governance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Image: Roadmap visual / timeline graphic (optional)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36892" y="-457200"/>
            <a:ext cx="7435508" cy="5486400"/>
          </a:xfrm>
          <a:custGeom>
            <a:avLst/>
            <a:gdLst/>
            <a:ahLst/>
            <a:cxnLst/>
            <a:rect l="l" t="t" r="r" b="b"/>
            <a:pathLst>
              <a:path w="7435508" h="5486400">
                <a:moveTo>
                  <a:pt x="7435508" y="0"/>
                </a:moveTo>
                <a:moveTo>
                  <a:pt x="4355415" y="1714500"/>
                </a:moveTo>
                <a:lnTo>
                  <a:pt x="4355415" y="4229100"/>
                </a:lnTo>
                <a:lnTo>
                  <a:pt x="2177708" y="5486400"/>
                </a:lnTo>
                <a:lnTo>
                  <a:pt x="0" y="4229100"/>
                </a:lnTo>
                <a:lnTo>
                  <a:pt x="0" y="1714499"/>
                </a:lnTo>
                <a:lnTo>
                  <a:pt x="2177707" y="457200"/>
                </a:lnTo>
                <a:lnTo>
                  <a:pt x="4355415" y="1714500"/>
                </a:lnTo>
                <a:close/>
              </a:path>
            </a:pathLst>
          </a:cu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214386" y="0"/>
            <a:ext cx="8929614" cy="4114800"/>
          </a:xfrm>
          <a:custGeom>
            <a:avLst/>
            <a:gdLst/>
            <a:ahLst/>
            <a:cxnLst/>
            <a:rect l="l" t="t" r="r" b="b"/>
            <a:pathLst>
              <a:path w="8929614" h="4114800">
                <a:moveTo>
                  <a:pt x="8929614" y="4114800"/>
                </a:moveTo>
                <a:moveTo>
                  <a:pt x="2771627" y="800100"/>
                </a:moveTo>
                <a:lnTo>
                  <a:pt x="2771627" y="2400300"/>
                </a:lnTo>
                <a:lnTo>
                  <a:pt x="1385814" y="3200400"/>
                </a:lnTo>
                <a:lnTo>
                  <a:pt x="0" y="2400300"/>
                </a:lnTo>
                <a:lnTo>
                  <a:pt x="0" y="800099"/>
                </a:lnTo>
                <a:lnTo>
                  <a:pt x="1385813" y="0"/>
                </a:lnTo>
                <a:lnTo>
                  <a:pt x="2771627" y="800100"/>
                </a:lnTo>
                <a:close/>
              </a:path>
            </a:pathLst>
          </a:cu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-914400" y="0"/>
            <a:ext cx="3473840" cy="4572000"/>
          </a:xfrm>
          <a:custGeom>
            <a:avLst/>
            <a:gdLst/>
            <a:ahLst/>
            <a:cxnLst/>
            <a:rect l="l" t="t" r="r" b="b"/>
            <a:pathLst>
              <a:path w="3473840" h="4572000">
                <a:moveTo>
                  <a:pt x="0" y="4572000"/>
                </a:moveTo>
                <a:moveTo>
                  <a:pt x="3473840" y="685800"/>
                </a:moveTo>
                <a:lnTo>
                  <a:pt x="3473840" y="2057400"/>
                </a:lnTo>
                <a:lnTo>
                  <a:pt x="2286000" y="2743200"/>
                </a:lnTo>
                <a:lnTo>
                  <a:pt x="1098159" y="2057400"/>
                </a:lnTo>
                <a:lnTo>
                  <a:pt x="1098159" y="685799"/>
                </a:lnTo>
                <a:lnTo>
                  <a:pt x="2285999" y="0"/>
                </a:lnTo>
                <a:lnTo>
                  <a:pt x="3473840" y="685800"/>
                </a:lnTo>
                <a:close/>
              </a:path>
            </a:pathLst>
          </a:custGeom>
          <a:noFill/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Join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66160"/>
            <a:ext cx="2286000" cy="5486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  <a:latin typeface="Calibri"/>
              </a:defRPr>
            </a:pPr>
            <a:r>
              <a:t>Copy the Best Bots. Collect the Profits.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9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Website:     cloudbright.com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rPr dirty="0"/>
              <a:t>Email:         invest@cloudbright.com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rPr dirty="0"/>
              <a:t>Telegram:   t.me/</a:t>
            </a:r>
            <a:r>
              <a:rPr dirty="0" err="1"/>
              <a:t>cloudbright</a:t>
            </a:r>
            <a:endParaRPr dirty="0"/>
          </a:p>
          <a:p>
            <a:pPr algn="l">
              <a:spcAft>
                <a:spcPts val="759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759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rPr dirty="0"/>
              <a:t>Hong Kong Cloud Bright Software Limited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4572000"/>
            <a:ext cx="1645920" cy="1645920"/>
          </a:xfrm>
          <a:prstGeom prst="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QR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718</Words>
  <Application>Microsoft Office PowerPoint</Application>
  <PresentationFormat>Широкоэкранный</PresentationFormat>
  <Paragraphs>151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AV</dc:creator>
  <cp:keywords/>
  <dc:description>generated using python-pptx</dc:description>
  <cp:lastModifiedBy>AV</cp:lastModifiedBy>
  <cp:revision>2</cp:revision>
  <dcterms:created xsi:type="dcterms:W3CDTF">2013-01-27T09:14:16Z</dcterms:created>
  <dcterms:modified xsi:type="dcterms:W3CDTF">2026-02-19T11:23:11Z</dcterms:modified>
  <cp:category/>
</cp:coreProperties>
</file>